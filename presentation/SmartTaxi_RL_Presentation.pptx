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Arial"/>
              </a:rPr>
              <a:t>Q(s, Pickup) after n visits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Q(s,Pickup)</c:v>
                </c:pt>
              </c:strCache>
            </c:strRef>
          </c:tx>
          <c:spPr>
            <a:solidFill>
              <a:srgbClr val="1F6F8B"/>
            </a:solidFill>
            <a:ln w="38100" cap="flat">
              <a:solidFill>
                <a:srgbClr val="1F6F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6F8B"/>
              </a:solidFill>
              <a:ln w="9525" cap="flat">
                <a:solidFill>
                  <a:srgbClr val="1F6F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3.3</c:v>
                </c:pt>
                <c:pt idx="2">
                  <c:v>6.27</c:v>
                </c:pt>
                <c:pt idx="3">
                  <c:v>8.94</c:v>
                </c:pt>
                <c:pt idx="4">
                  <c:v>11.35</c:v>
                </c:pt>
                <c:pt idx="5">
                  <c:v>13.51</c:v>
                </c:pt>
                <c:pt idx="6">
                  <c:v>15.46</c:v>
                </c:pt>
                <c:pt idx="7">
                  <c:v>17.22</c:v>
                </c:pt>
                <c:pt idx="8">
                  <c:v>18.79</c:v>
                </c:pt>
                <c:pt idx="9">
                  <c:v>20.22</c:v>
                </c:pt>
                <c:pt idx="10">
                  <c:v>21.49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280"/>
                    </a:solidFill>
                    <a:latin typeface="Arial"/>
                  </a:rPr>
                  <a:t>visits 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9525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افتتاحية: المشروع يوضّح كيف يتعلّم وكيل (سيارة أجرة) سياسة قيادة من التجربة والخطأ فقط، دون أن نبرمج له المسار.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نشرح الحلقة: الوكيل يرى الحالة s، يختار الفعل a، البيئة تعيد الحالة التالية s′ ومكافأة r، ثم يتكرر ذلك آلاف المرات.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لقطة حقيقية من الواجهة. لاحظ لوحة Q على اليمين: تعرض قيم Q الستة للحالة الحالية، والأعلى هو الفعل الذي سيختاره الوكيل.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الحالة تحتوي كل ما يحتاجه الوكيل ليقرّر: أين أنا، أين الراكب والوجهة، وهل التقطت الراكب؟ حجم صغير (3200) هو ما يسمح باستخدام جدول عادي دون شبكة عصبية.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الجدول هو «ذاكرة» الوكيل بالكامل. التعلّم = تعديل هذه الأرقام تدريجيًا.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المكافآت هي الطريقة الوحيدة التي «نخبر» بها الوكيل عن الهدف. القيم اختيار تصميمي ابتدائي وليست قيمًا مثبتة كأمثل.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المعادلة تقول: القيمة الجديدة = القيمة القديمة + α × (ما حصلت عليه فعلًا − ما كنت أتوقعه). ما حصلت عليه فعلًا = المكافأة الآن + أفضل ما أتوقعه من الحالة التالية مخصومًا بـ 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الأرقام ناتجة فعلًا من الكود (experiments/explain_q.py). في التدريب الحقيقي يتغير max Q(s′) نفسه أيضًا، فتنتشر القيم من الحالة النهائية إلى الخلف.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بدون استكشاف قد يتمسّك الوكيل بأول مسار وجده. بدون استغلال لا يستفيد مما تعلّمه.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هو الكود الفعلي في experiments/train.py. كل تحديث يمس خانة واحدة فقط من الجدول: Q[s, a].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نقطة مهمة: القيمة 87.1 يمكن التحقق منها يدويًا، أي أن الجدول تقارب إلى القيمة الصحيحة وليس مجرد 'يبدو جيدًا'.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المكافأة تُحسب أثناء التدريب مع استكشاف ε، لذلك تقل قليلًا عن نتائج التقييم الحريصة.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500 مهمة بنفس البذور للوكيلين، دون استكشاف عند Q-Learning. ملاحظة صدق علمي: بعد 10000 حلقة فقط كانت النسبة 95.6%، وبعد 30000 حلقة 100%.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النتائج المعروضة بين قوسين في وسيلة الإيضاح هي نسبة النجاح النهائية لكل إعداد. الحالة محدودة بخريطة صغيرة، فلا نعمّم على بيئات أكبر.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يمكن تشغيل النافذة أثناء العرض: اضغط N وراقب كيف يختار الفعل صاحب أكبر قيمة 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بأن النتائج مخصّصة لبيئة المحاكاة المصمّمة، وأن الجدول لا يتسع لحالات أكبر دون تقريب الدوال.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F2B705"/>
                </a:solidFill>
              </a:rPr>
              <a:t>SmartTaxi RL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سيارة أجرة تتعلّم القيادة بنفسها باستخدام خوارزمية Q-Learning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C9D3DD"/>
                </a:solidFill>
              </a:rPr>
              <a:t>شرح مبسّط ودقيق: فضاء الحالات، المكافآت، معادلة التحديث، والتدريب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8FA3B3"/>
                </a:solidFill>
              </a:rPr>
              <a:t>حلقة بحثية  |  Python · NumPy · Pygame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فكرة التعلّم المعزّز: وكيل، بيئة، مكافأة</a:t>
            </a:r>
            <a:endParaRPr lang="en-US" sz="3200" dirty="0"/>
          </a:p>
        </p:txBody>
      </p:sp>
      <p:sp>
        <p:nvSpPr>
          <p:cNvPr id="3" name="AgentBox"/>
          <p:cNvSpPr/>
          <p:nvPr/>
        </p:nvSpPr>
        <p:spPr>
          <a:xfrm>
            <a:off x="4937760" y="18288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937760" y="1828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السيارة الذكية</a:t>
            </a:r>
            <a:endParaRPr lang="en-US" sz="2000" dirty="0"/>
          </a:p>
        </p:txBody>
      </p:sp>
      <p:sp>
        <p:nvSpPr>
          <p:cNvPr id="5" name="EnvBox"/>
          <p:cNvSpPr/>
          <p:nvPr/>
        </p:nvSpPr>
        <p:spPr>
          <a:xfrm>
            <a:off x="4937760" y="448056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44805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Environment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مدينة 10×10</a:t>
            </a:r>
            <a:endParaRPr lang="en-US" sz="2000" dirty="0"/>
          </a:p>
        </p:txBody>
      </p:sp>
      <p:sp>
        <p:nvSpPr>
          <p:cNvPr id="7" name="ActionArrow"/>
          <p:cNvSpPr/>
          <p:nvPr/>
        </p:nvSpPr>
        <p:spPr>
          <a:xfrm>
            <a:off x="5669280" y="3291840"/>
            <a:ext cx="0" cy="1188720"/>
          </a:xfrm>
          <a:prstGeom prst="line">
            <a:avLst/>
          </a:prstGeom>
          <a:noFill/>
          <a:ln w="38100">
            <a:solidFill>
              <a:srgbClr val="E8743B"/>
            </a:solidFill>
            <a:prstDash val="solid"/>
            <a:tailEnd type="triangle"/>
          </a:ln>
        </p:spPr>
      </p:sp>
      <p:sp>
        <p:nvSpPr>
          <p:cNvPr id="8" name="StateArrow"/>
          <p:cNvSpPr/>
          <p:nvPr/>
        </p:nvSpPr>
        <p:spPr>
          <a:xfrm flipV="1">
            <a:off x="6492240" y="4480560"/>
            <a:ext cx="0" cy="-1188720"/>
          </a:xfrm>
          <a:prstGeom prst="line">
            <a:avLst/>
          </a:prstGeom>
          <a:noFill/>
          <a:ln w="38100">
            <a:solidFill>
              <a:srgbClr val="2EA05A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65760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E8743B"/>
                </a:solidFill>
              </a:rPr>
              <a:t>الفعل 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A05A"/>
                </a:solidFill>
              </a:rPr>
              <a:t>الحالة s′ والمكافأة 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الوكيل لا يعرف القواعد مسبقًا: يجرّب فعلًا ويرى النتيجة</a:t>
            </a:r>
            <a:endParaRPr lang="en-US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المكافأة رقم يقول «أحسنت» أو «أخطأت»</a:t>
            </a:r>
            <a:endParaRPr lang="en-US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الهدف: اختيار أفعال تعظّم مجموع المكافآت على المدى الطويل</a:t>
            </a:r>
            <a:endParaRPr lang="en-US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Q-Learning يخزّن «قيمة» كل فعل في كل حالة داخل جدول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البيئة: مدينة شبكية بعوائق ثابتة</a:t>
            </a:r>
            <a:endParaRPr lang="en-US" sz="3200" dirty="0"/>
          </a:p>
        </p:txBody>
      </p:sp>
      <p:pic>
        <p:nvPicPr>
          <p:cNvPr id="3" name="Image 0" descr="/home/user/SmartTaxi-RL/results/game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17320"/>
            <a:ext cx="5623560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55448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شبكة 10×10 = 100 خلية، منها 15 عائقًا ثابتًا</a:t>
            </a:r>
            <a:endParaRPr lang="en-US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4 نقاط التقاط (P0–P3) و4 وجهات (D0–D3)</a:t>
            </a:r>
            <a:endParaRPr lang="en-US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في كل حلقة: موقع السيارة والراكب والوجهة عشوائيون</a:t>
            </a:r>
            <a:endParaRPr lang="en-US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المهمة: اذهب إلى الراكب، التقطه، أوصله، ثم أنزله</a:t>
            </a:r>
            <a:endParaRPr lang="en-US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تحقّق BFS أن كل نقطتين مهمتين متصلتان بمسار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530352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لقطة من واجهة Pygame: P الأخضر راكب، D الأزرق وجهة، المستطيل الأصفر السيارة.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فضاء الحالات (State Space)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( x , y , p , d , b )</a:t>
            </a:r>
            <a:endParaRPr lang="en-US" sz="4000" dirty="0"/>
          </a:p>
        </p:txBody>
      </p:sp>
      <p:sp>
        <p:nvSpPr>
          <p:cNvPr id="4" name="StateCard"/>
          <p:cNvSpPr/>
          <p:nvPr/>
        </p:nvSpPr>
        <p:spPr>
          <a:xfrm>
            <a:off x="548640" y="24688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60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, 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موقع السيارة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8743B"/>
                </a:solidFill>
              </a:rPr>
              <a:t>10 × 10 قيمة</a:t>
            </a:r>
            <a:endParaRPr lang="en-US" sz="1800" dirty="0"/>
          </a:p>
        </p:txBody>
      </p:sp>
      <p:sp>
        <p:nvSpPr>
          <p:cNvPr id="8" name="StateCard"/>
          <p:cNvSpPr/>
          <p:nvPr/>
        </p:nvSpPr>
        <p:spPr>
          <a:xfrm>
            <a:off x="3337560" y="24688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2560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رقم نقطة الالتقاط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8743B"/>
                </a:solidFill>
              </a:rPr>
              <a:t>4 قيمة</a:t>
            </a:r>
            <a:endParaRPr lang="en-US" sz="1800" dirty="0"/>
          </a:p>
        </p:txBody>
      </p:sp>
      <p:sp>
        <p:nvSpPr>
          <p:cNvPr id="12" name="StateCard"/>
          <p:cNvSpPr/>
          <p:nvPr/>
        </p:nvSpPr>
        <p:spPr>
          <a:xfrm>
            <a:off x="6126480" y="24688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2560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رقم الوجهة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8743B"/>
                </a:solidFill>
              </a:rPr>
              <a:t>4 قيمة</a:t>
            </a:r>
            <a:endParaRPr lang="en-US" sz="1800" dirty="0"/>
          </a:p>
        </p:txBody>
      </p:sp>
      <p:sp>
        <p:nvSpPr>
          <p:cNvPr id="16" name="StateCard"/>
          <p:cNvSpPr/>
          <p:nvPr/>
        </p:nvSpPr>
        <p:spPr>
          <a:xfrm>
            <a:off x="8915400" y="24688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15400" y="2560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الراكب بالسيارة؟ (0/1)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8743B"/>
                </a:solidFill>
              </a:rPr>
              <a:t>2 قيمة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34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A3A"/>
                </a:solidFill>
              </a:rPr>
              <a:t>10 × 10 × 4 × 4 × 2 = 3200 حالة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12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B2430"/>
                </a:solidFill>
              </a:rPr>
              <a:t>نحوّل كل حالة إلى رقم واحد هو فهرس الصف في الجدول، مثال: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F8B"/>
                </a:solidFill>
              </a:rPr>
              <a:t>(3, 5, P1, D2, 0)  →  ((35·4 + 1)·4 + 2)·2 + 0 = 1132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الأفعال وجدول Q</a:t>
            </a:r>
            <a:endParaRPr lang="en-US" sz="3200" dirty="0"/>
          </a:p>
        </p:txBody>
      </p:sp>
      <p:sp>
        <p:nvSpPr>
          <p:cNvPr id="3" name="ActionCard"/>
          <p:cNvSpPr/>
          <p:nvPr/>
        </p:nvSpPr>
        <p:spPr>
          <a:xfrm>
            <a:off x="548640" y="141732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أعلى</a:t>
            </a:r>
            <a:endParaRPr lang="en-US" sz="2200" dirty="0"/>
          </a:p>
        </p:txBody>
      </p:sp>
      <p:sp>
        <p:nvSpPr>
          <p:cNvPr id="5" name="ActionCard"/>
          <p:cNvSpPr/>
          <p:nvPr/>
        </p:nvSpPr>
        <p:spPr>
          <a:xfrm>
            <a:off x="2423160" y="141732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23160" y="1417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أسفل</a:t>
            </a:r>
            <a:endParaRPr lang="en-US" sz="2200" dirty="0"/>
          </a:p>
        </p:txBody>
      </p:sp>
      <p:sp>
        <p:nvSpPr>
          <p:cNvPr id="7" name="ActionCard"/>
          <p:cNvSpPr/>
          <p:nvPr/>
        </p:nvSpPr>
        <p:spPr>
          <a:xfrm>
            <a:off x="4297680" y="141732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1417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يمين</a:t>
            </a:r>
            <a:endParaRPr lang="en-US" sz="2200" dirty="0"/>
          </a:p>
        </p:txBody>
      </p:sp>
      <p:sp>
        <p:nvSpPr>
          <p:cNvPr id="9" name="ActionCard"/>
          <p:cNvSpPr/>
          <p:nvPr/>
        </p:nvSpPr>
        <p:spPr>
          <a:xfrm>
            <a:off x="6172200" y="141732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417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يسار</a:t>
            </a:r>
            <a:endParaRPr lang="en-US" sz="2200" dirty="0"/>
          </a:p>
        </p:txBody>
      </p:sp>
      <p:sp>
        <p:nvSpPr>
          <p:cNvPr id="11" name="ActionCard"/>
          <p:cNvSpPr/>
          <p:nvPr/>
        </p:nvSpPr>
        <p:spPr>
          <a:xfrm>
            <a:off x="8046720" y="141732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1417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التقاط</a:t>
            </a:r>
            <a:endParaRPr lang="en-US" sz="2200" dirty="0"/>
          </a:p>
        </p:txBody>
      </p:sp>
      <p:sp>
        <p:nvSpPr>
          <p:cNvPr id="13" name="ActionCard"/>
          <p:cNvSpPr/>
          <p:nvPr/>
        </p:nvSpPr>
        <p:spPr>
          <a:xfrm>
            <a:off x="9921240" y="141732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21240" y="1417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إنزال</a:t>
            </a:r>
            <a:endParaRPr lang="en-US" sz="2200" dirty="0"/>
          </a:p>
        </p:txBody>
      </p:sp>
      <p:graphicFrame>
        <p:nvGraphicFramePr>
          <p:cNvPr id="6" name="Q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6583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حالة \ فعل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أعلى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أسفل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يمين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يسار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التقاط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إنزال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= 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= 1132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= 3199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7498080" y="2651760"/>
            <a:ext cx="4160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</a:rPr>
              <a:t>الجدول 3200 × 6 = 19200 قيمة، كلها صفر في البداية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</a:rPr>
              <a:t>Q(s,a) = «كم أتوقع أن أجمع من مكافآت إذا فعلت a في s ثم تصرفت جيدًا بعدها؟»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</a:rPr>
              <a:t>القرار: في كل حالة نختار الفعل صاحب أكبر Q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دالة المكافأة (Reward)</a:t>
            </a:r>
            <a:endParaRPr lang="en-US" sz="3200" dirty="0"/>
          </a:p>
        </p:txBody>
      </p:sp>
      <p:sp>
        <p:nvSpPr>
          <p:cNvPr id="3" name="RewardCard"/>
          <p:cNvSpPr/>
          <p:nvPr/>
        </p:nvSpPr>
        <p:spPr>
          <a:xfrm>
            <a:off x="6172200" y="14630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309360" y="14630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A05A"/>
                </a:solidFill>
              </a:rPr>
              <a:t>+100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092440" y="146304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1B2430"/>
                </a:solidFill>
              </a:rPr>
              <a:t>توصيل الراكب للوجهة الصحيحة</a:t>
            </a:r>
            <a:endParaRPr lang="en-US" sz="1700" dirty="0"/>
          </a:p>
        </p:txBody>
      </p:sp>
      <p:sp>
        <p:nvSpPr>
          <p:cNvPr id="6" name="RewardCard"/>
          <p:cNvSpPr/>
          <p:nvPr/>
        </p:nvSpPr>
        <p:spPr>
          <a:xfrm>
            <a:off x="548640" y="14630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630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A05A"/>
                </a:solidFill>
              </a:rPr>
              <a:t>+15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46304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1B2430"/>
                </a:solidFill>
              </a:rPr>
              <a:t>التقاط الراكب من مكانه الصحيح</a:t>
            </a:r>
            <a:endParaRPr lang="en-US" sz="1700" dirty="0"/>
          </a:p>
        </p:txBody>
      </p:sp>
      <p:sp>
        <p:nvSpPr>
          <p:cNvPr id="9" name="RewardCard"/>
          <p:cNvSpPr/>
          <p:nvPr/>
        </p:nvSpPr>
        <p:spPr>
          <a:xfrm>
            <a:off x="6172200" y="30175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30175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A8F98"/>
                </a:solidFill>
              </a:rPr>
              <a:t>−1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301752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1B2430"/>
                </a:solidFill>
              </a:rPr>
              <a:t>كل خطوة (يشجّع الطرق القصيرة)</a:t>
            </a:r>
            <a:endParaRPr lang="en-US" sz="1700" dirty="0"/>
          </a:p>
        </p:txBody>
      </p:sp>
      <p:sp>
        <p:nvSpPr>
          <p:cNvPr id="12" name="RewardCard"/>
          <p:cNvSpPr/>
          <p:nvPr/>
        </p:nvSpPr>
        <p:spPr>
          <a:xfrm>
            <a:off x="548640" y="30175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0175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743B"/>
                </a:solidFill>
              </a:rPr>
              <a:t>−10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01752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1B2430"/>
                </a:solidFill>
              </a:rPr>
              <a:t>التقاط/إنزال في مكان خاطئ</a:t>
            </a:r>
            <a:endParaRPr lang="en-US" sz="1700" dirty="0"/>
          </a:p>
        </p:txBody>
      </p:sp>
      <p:sp>
        <p:nvSpPr>
          <p:cNvPr id="15" name="RewardCard"/>
          <p:cNvSpPr/>
          <p:nvPr/>
        </p:nvSpPr>
        <p:spPr>
          <a:xfrm>
            <a:off x="6172200" y="45720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45720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743B"/>
                </a:solidFill>
              </a:rPr>
              <a:t>−20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457200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1B2430"/>
                </a:solidFill>
              </a:rPr>
              <a:t>الاصطدام بعائق أو حافة الخريطة</a:t>
            </a:r>
            <a:endParaRPr lang="en-US" sz="1700" dirty="0"/>
          </a:p>
        </p:txBody>
      </p:sp>
      <p:sp>
        <p:nvSpPr>
          <p:cNvPr id="18" name="RewardCard"/>
          <p:cNvSpPr/>
          <p:nvPr/>
        </p:nvSpPr>
        <p:spPr>
          <a:xfrm>
            <a:off x="548640" y="45720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5720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743B"/>
                </a:solidFill>
              </a:rPr>
              <a:t>−15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457200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1B2430"/>
                </a:solidFill>
              </a:rPr>
              <a:t>انتهاء 150 خطوة دون توصيل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ملاحظة: كل خطوة تحمل عقوبة الخطوة، فتُجمع مع مكافأة الحدث (التقاط صحيح: 15 − 1 = 14)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معادلة Q-Learning</a:t>
            </a:r>
            <a:endParaRPr lang="en-US" sz="3200" dirty="0"/>
          </a:p>
        </p:txBody>
      </p:sp>
      <p:sp>
        <p:nvSpPr>
          <p:cNvPr id="3" name="FormulaBox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Q(s,a)  ←  Q(s,a) + α · [ r + γ · max Q(s′,a′) − Q(s,a) ]</a:t>
            </a:r>
            <a:endParaRPr lang="en-US" sz="3000" dirty="0"/>
          </a:p>
        </p:txBody>
      </p:sp>
      <p:sp>
        <p:nvSpPr>
          <p:cNvPr id="5" name="TermCard"/>
          <p:cNvSpPr/>
          <p:nvPr/>
        </p:nvSpPr>
        <p:spPr>
          <a:xfrm>
            <a:off x="9509760" y="283464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Q(s,a)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19488" y="352044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القيمة الحالية في الجدول</a:t>
            </a:r>
            <a:endParaRPr lang="en-US" sz="1400" dirty="0"/>
          </a:p>
        </p:txBody>
      </p:sp>
      <p:sp>
        <p:nvSpPr>
          <p:cNvPr id="8" name="TermCard"/>
          <p:cNvSpPr/>
          <p:nvPr/>
        </p:nvSpPr>
        <p:spPr>
          <a:xfrm>
            <a:off x="7269480" y="283464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6948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0.1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79208" y="352044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معدل التعلّم: حجم الخطوة نحو الهدف</a:t>
            </a:r>
            <a:endParaRPr lang="en-US" sz="1400" dirty="0"/>
          </a:p>
        </p:txBody>
      </p:sp>
      <p:sp>
        <p:nvSpPr>
          <p:cNvPr id="11" name="TermCard"/>
          <p:cNvSpPr/>
          <p:nvPr/>
        </p:nvSpPr>
        <p:spPr>
          <a:xfrm>
            <a:off x="5029200" y="283464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138928" y="352044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المكافأة الفورية بعد الفعل</a:t>
            </a:r>
            <a:endParaRPr lang="en-US" sz="1400" dirty="0"/>
          </a:p>
        </p:txBody>
      </p:sp>
      <p:sp>
        <p:nvSpPr>
          <p:cNvPr id="14" name="TermCard"/>
          <p:cNvSpPr/>
          <p:nvPr/>
        </p:nvSpPr>
        <p:spPr>
          <a:xfrm>
            <a:off x="2788920" y="283464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8892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0.95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898648" y="352044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الخصم: وزن المستقبل (القريب أهم)</a:t>
            </a:r>
            <a:endParaRPr lang="en-US" sz="1400" dirty="0"/>
          </a:p>
        </p:txBody>
      </p:sp>
      <p:sp>
        <p:nvSpPr>
          <p:cNvPr id="17" name="TermCard"/>
          <p:cNvSpPr/>
          <p:nvPr/>
        </p:nvSpPr>
        <p:spPr>
          <a:xfrm>
            <a:off x="548640" y="283464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Q(s′,·)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52044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أفضل قيمة متاحة في الحالة التالية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B2430"/>
                </a:solidFill>
              </a:rPr>
              <a:t>الهدف (Target) = r + γ · max Q(s′,a′)</a:t>
            </a:r>
            <a:endParaRPr lang="en-US" sz="17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B2430"/>
                </a:solidFill>
              </a:rPr>
              <a:t>خطأ الفرق الزمني (TD error) = Target − Q(s,a)</a:t>
            </a:r>
            <a:endParaRPr lang="en-US" sz="17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2430"/>
                </a:solidFill>
              </a:rPr>
              <a:t>الفكرة: نحرّك Q خطوة صغيرة (α) باتجاه الهدف</a:t>
            </a:r>
            <a:endParaRPr lang="en-US" sz="17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2430"/>
                </a:solidFill>
              </a:rPr>
              <a:t>وإذا كانت الحالة نهائية (تم التوصيل) نحذف حد المستقبل ويصبح الهدف هو المكافأة فقط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مثال عددي: كيف تتغير Q مع كل عيّنة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2430"/>
                </a:solidFill>
              </a:rPr>
              <a:t>الحالة: السيارة عند الراكب P0، الفعل: التقاط. r = 15 − 1 = 14. نفترض max Q(s′) = 20.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= 14 + 0.95 × 20 = 33</a:t>
            </a:r>
            <a:endParaRPr lang="en-US" sz="2200" dirty="0"/>
          </a:p>
        </p:txBody>
      </p:sp>
      <p:graphicFrame>
        <p:nvGraphicFramePr>
          <p:cNvPr id="9" name="Updat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56692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المرور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 قبل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TD error = 33 − Q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 بعد = Q + 0.1·TD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F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F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26.73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F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A0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492240" y="2377440"/>
          <a:ext cx="5166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كل مرور يقرّب Q من الهدف بنسبة 10% من الخطأ المتبقي، ولهذا يلزم عدد كبير من الحلقات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8B"/>
                </a:solidFill>
              </a:rPr>
              <a:t>Qn = 33 · (1 − 0.9^n)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الاستكشاف مقابل الاستغلال (ε-greedy)</a:t>
            </a:r>
            <a:endParaRPr lang="en-US" sz="3200" dirty="0"/>
          </a:p>
        </p:txBody>
      </p:sp>
      <p:pic>
        <p:nvPicPr>
          <p:cNvPr id="3" name="Image 0" descr="/home/user/SmartTaxi-RL/results/training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417320"/>
            <a:ext cx="5806440" cy="33192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46304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استكشاف: فعل عشوائي باحتمال ε</a:t>
            </a:r>
            <a:endParaRPr lang="en-US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استغلال: أفضل فعل حسب Q باحتمال 1 − ε</a:t>
            </a:r>
            <a:endParaRPr lang="en-US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نبدأ بالاستكشاف الكامل (ε = 1)</a:t>
            </a:r>
            <a:endParaRPr lang="en-US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نقلّل ε بعد كل حلقة حتى حدّ أدنى</a:t>
            </a:r>
            <a:endParaRPr lang="en-US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</a:rPr>
              <a:t>نصل إلى الحد الأدنى تقريبًا عند الحلقة 3000</a:t>
            </a:r>
            <a:endParaRPr lang="en-US" sz="1800" dirty="0"/>
          </a:p>
        </p:txBody>
      </p:sp>
      <p:sp>
        <p:nvSpPr>
          <p:cNvPr id="5" name="EpsCard"/>
          <p:cNvSpPr/>
          <p:nvPr/>
        </p:nvSpPr>
        <p:spPr>
          <a:xfrm>
            <a:off x="548640" y="461772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6177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705"/>
                </a:solidFill>
              </a:rPr>
              <a:t>ε ← max( 0.05 , ε × 0.999 )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484632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الأزرق: نسبة النجاح (متوسط 100 حلقة)، البرتقالي: قيمة ε، وكلما قلّ الاستكشاف ارتفع النجاح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حلقة التدريب خطوة بخطوة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11155680" y="1508760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BadgeText"/>
          <p:cNvSpPr txBox="1"/>
          <p:nvPr/>
        </p:nvSpPr>
        <p:spPr>
          <a:xfrm>
            <a:off x="111556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A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Card"/>
          <p:cNvSpPr/>
          <p:nvPr/>
        </p:nvSpPr>
        <p:spPr>
          <a:xfrm>
            <a:off x="5760720" y="1417320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4173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env.reset(): مهمة جديدة (موقع، راكب، وجهة عشوائية)</a:t>
            </a:r>
            <a:endParaRPr lang="en-US" sz="1600" dirty="0"/>
          </a:p>
        </p:txBody>
      </p:sp>
      <p:sp>
        <p:nvSpPr>
          <p:cNvPr id="7" name="Badge"/>
          <p:cNvSpPr/>
          <p:nvPr/>
        </p:nvSpPr>
        <p:spPr>
          <a:xfrm>
            <a:off x="11155680" y="2441448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BadgeText"/>
          <p:cNvSpPr txBox="1"/>
          <p:nvPr/>
        </p:nvSpPr>
        <p:spPr>
          <a:xfrm>
            <a:off x="1115568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A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Card"/>
          <p:cNvSpPr/>
          <p:nvPr/>
        </p:nvSpPr>
        <p:spPr>
          <a:xfrm>
            <a:off x="5760720" y="2350008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2350008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اختيار الفعل a بسياسة ε-greedy</a:t>
            </a:r>
            <a:endParaRPr lang="en-US" sz="1600" dirty="0"/>
          </a:p>
        </p:txBody>
      </p:sp>
      <p:sp>
        <p:nvSpPr>
          <p:cNvPr id="11" name="Badge"/>
          <p:cNvSpPr/>
          <p:nvPr/>
        </p:nvSpPr>
        <p:spPr>
          <a:xfrm>
            <a:off x="11155680" y="3374136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2" name="BadgeText"/>
          <p:cNvSpPr txBox="1"/>
          <p:nvPr/>
        </p:nvSpPr>
        <p:spPr>
          <a:xfrm>
            <a:off x="1115568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A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StepCard"/>
          <p:cNvSpPr/>
          <p:nvPr/>
        </p:nvSpPr>
        <p:spPr>
          <a:xfrm>
            <a:off x="5760720" y="3282696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3282696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env.step(a) ← الحالة التالية s′ والمكافأة r</a:t>
            </a:r>
            <a:endParaRPr lang="en-US" sz="1600" dirty="0"/>
          </a:p>
        </p:txBody>
      </p:sp>
      <p:sp>
        <p:nvSpPr>
          <p:cNvPr id="15" name="Badge"/>
          <p:cNvSpPr/>
          <p:nvPr/>
        </p:nvSpPr>
        <p:spPr>
          <a:xfrm>
            <a:off x="11155680" y="4306824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6" name="BadgeText"/>
          <p:cNvSpPr txBox="1"/>
          <p:nvPr/>
        </p:nvSpPr>
        <p:spPr>
          <a:xfrm>
            <a:off x="1115568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A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StepCard"/>
          <p:cNvSpPr/>
          <p:nvPr/>
        </p:nvSpPr>
        <p:spPr>
          <a:xfrm>
            <a:off x="5760720" y="4215384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52160" y="4215384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تحديث Q(s,a) بالمعادلة، ثم s ← s′</a:t>
            </a:r>
            <a:endParaRPr lang="en-US" sz="1600" dirty="0"/>
          </a:p>
        </p:txBody>
      </p:sp>
      <p:sp>
        <p:nvSpPr>
          <p:cNvPr id="19" name="Badge"/>
          <p:cNvSpPr/>
          <p:nvPr/>
        </p:nvSpPr>
        <p:spPr>
          <a:xfrm>
            <a:off x="11155680" y="5239512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0" name="BadgeText"/>
          <p:cNvSpPr txBox="1"/>
          <p:nvPr/>
        </p:nvSpPr>
        <p:spPr>
          <a:xfrm>
            <a:off x="1115568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A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StepCard"/>
          <p:cNvSpPr/>
          <p:nvPr/>
        </p:nvSpPr>
        <p:spPr>
          <a:xfrm>
            <a:off x="5760720" y="5148072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0" y="5148072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نكرّر حتى التوصيل أو 150 خطوة، ثم نخفّض ε</a:t>
            </a:r>
            <a:endParaRPr lang="en-US" sz="1600" dirty="0"/>
          </a:p>
        </p:txBody>
      </p:sp>
      <p:sp>
        <p:nvSpPr>
          <p:cNvPr id="23" name="CodeCard"/>
          <p:cNvSpPr/>
          <p:nvPr/>
        </p:nvSpPr>
        <p:spPr>
          <a:xfrm>
            <a:off x="548640" y="141732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1554480"/>
            <a:ext cx="4526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 in range(30000):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 = env.reset()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True: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agent.choose_action(s)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s2, r, done, ... = env.step(a)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agent.update(s, a, r, s2, done)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s2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done: break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agent.decay_epsilon()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ماذا تعلّمت الأرقام فعلًا؟</a:t>
            </a:r>
            <a:endParaRPr lang="en-US" sz="3200" dirty="0"/>
          </a:p>
        </p:txBody>
      </p:sp>
      <p:pic>
        <p:nvPicPr>
          <p:cNvPr id="3" name="Image 0" descr="/home/user/SmartTaxi-RL/results/q_value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2926080"/>
          </a:xfrm>
          <a:prstGeom prst="rect">
            <a:avLst/>
          </a:prstGeom>
        </p:spPr>
      </p:pic>
      <p:sp>
        <p:nvSpPr>
          <p:cNvPr id="4" name="NoteCard"/>
          <p:cNvSpPr/>
          <p:nvPr/>
        </p:nvSpPr>
        <p:spPr>
          <a:xfrm>
            <a:off x="8138160" y="137160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75320" y="14630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F6F8B"/>
                </a:solidFill>
              </a:rPr>
              <a:t>القيمة المتعلّمة استقرت عند 87.1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23317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وهي القيمة النظرية المتوقعة للمسار الأقصر: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30175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A3A"/>
                </a:solidFill>
              </a:rPr>
              <a:t>14 − (0.95 + 0.95² + 0.95³ + 0.95⁴)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2A3A"/>
                </a:solidFill>
              </a:rPr>
              <a:t>+ 0.95⁵ · 99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262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</a:rPr>
              <a:t>ارتفعت Q بسرعة بين الحلقات 1000 و3000 عندما بدأ الوكيل يصل إلى التوصيل ويكتشف المكافأة +100</a:t>
            </a:r>
            <a:endParaRPr lang="en-US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</a:rPr>
              <a:t>المتوسط العام لأفضل Q يستمرّ بالارتفاع ببطء لأن حالات نادرة تُزار قليلًا وتحتاج مزيدًا من العيّنات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منحنيات التعلّم</a:t>
            </a:r>
            <a:endParaRPr lang="en-US" sz="3200" dirty="0"/>
          </a:p>
        </p:txBody>
      </p:sp>
      <p:pic>
        <p:nvPicPr>
          <p:cNvPr id="3" name="Image 0" descr="/home/user/SmartTaxi-RL/results/training_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136392"/>
          </a:xfrm>
          <a:prstGeom prst="rect">
            <a:avLst/>
          </a:prstGeom>
        </p:spPr>
      </p:pic>
      <p:pic>
        <p:nvPicPr>
          <p:cNvPr id="4" name="Image 1" descr="/home/user/SmartTaxi-RL/results/training_suc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486400" cy="313639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</a:rPr>
              <a:t>في البداية المكافأة سالبة جدًا (حتى −440): السيارة تصطدم وتنتهي مهلتها</a:t>
            </a:r>
            <a:endParaRPr lang="en-US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</a:rPr>
              <a:t>بين 1000 و3000 حلقة: قفزة من 29% إلى 100% نجاح (في التدريب)</a:t>
            </a:r>
            <a:endParaRPr lang="en-US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</a:rPr>
              <a:t>بعدها تتحسّن المكافأة ببطء من ≈65 إلى ≈85 لأن الطرق تقصر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التقييم: Q-Learning مقابل الوكيل العشوائي</a:t>
            </a:r>
            <a:endParaRPr lang="en-US" sz="3200" dirty="0"/>
          </a:p>
        </p:txBody>
      </p:sp>
      <p:pic>
        <p:nvPicPr>
          <p:cNvPr id="3" name="Image 0" descr="/home/user/SmartTaxi-RL/results/agen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3192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0" y="4754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6F8B"/>
                </a:solidFill>
              </a:rPr>
              <a:t>100%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9144000" y="5486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نجاح Q-Learning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4754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A8F98"/>
                </a:solidFill>
              </a:rPr>
              <a:t>0.8%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5486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نجاح العشوائي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4754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6F8B"/>
                </a:solidFill>
              </a:rPr>
              <a:t>20.8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5486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متوسط الخطوات (مقابل 149.6)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754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6F8B"/>
                </a:solidFill>
              </a:rPr>
              <a:t>0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486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اصطدامات (مقابل 23.2)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تأثير المعاملات (3 بذور × 6000 حلقة)</a:t>
            </a:r>
            <a:endParaRPr lang="en-US" sz="3200" dirty="0"/>
          </a:p>
        </p:txBody>
      </p:sp>
      <p:pic>
        <p:nvPicPr>
          <p:cNvPr id="3" name="Image 0" descr="/home/user/SmartTaxi-RL/results/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2369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70916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</a:rPr>
              <a:t>معدل التعلّم صغير جدًا (0.01) بطيء: نجاح 53.5% فقط، أما 0.1 و0.5 فوصلا إلى 100%</a:t>
            </a:r>
            <a:endParaRPr lang="en-US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</a:rPr>
              <a:t>خصم قصير النظر (γ = 0.5) أضعف: نجاح 92.4% بانحراف 3.3، بينما 0.95 و0.99 وصلا إلى 100%</a:t>
            </a:r>
            <a:endParaRPr lang="en-US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</a:rPr>
              <a:t>قيم تناقص ε الثلاث نجحت هنا، والفرق في سرعة الوصول وليس في النتيجة النهائية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2A3A"/>
                </a:solidFill>
              </a:rPr>
              <a:t>التشغيل والواجهة</a:t>
            </a:r>
            <a:endParaRPr lang="en-US" sz="3200" dirty="0"/>
          </a:p>
        </p:txBody>
      </p:sp>
      <p:sp>
        <p:nvSpPr>
          <p:cNvPr id="3" name="RunCard"/>
          <p:cNvSpPr/>
          <p:nvPr/>
        </p:nvSpPr>
        <p:spPr>
          <a:xfrm>
            <a:off x="548640" y="1417320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experiments.train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experiments.evaluate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experiments.sweep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experiments.plot_results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experiments.explain_q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   # Pygame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554480"/>
            <a:ext cx="5074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</a:rPr>
              <a:t>ملف main.py يفتح نافذة Pygame تعرض السيارة وقيم Q للحالة الحالية</a:t>
            </a:r>
            <a:endParaRPr lang="en-US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</a:rPr>
              <a:t>مفتاح SPACE يشغّل الوكيل ويوقفه، وN خطوة واحدة، وR مهمة جديدة</a:t>
            </a:r>
            <a:endParaRPr lang="en-US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</a:rPr>
              <a:t>الأسهم مع P وD للقيادة اليدوية ومقارنتها بقرار الوكيل</a:t>
            </a:r>
            <a:endParaRPr lang="en-US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</a:rPr>
              <a:t>النتائج تُحفظ في مجلد results: ملفات CSV وصور وجدول Q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الخلاصة والقيود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حلّ Q-Learning الجدولي المسألة: 3200 حالة و6 أفعال ونجاح 100% في 500 مهمة تقييم</a:t>
            </a:r>
            <a:endParaRPr lang="en-US" sz="20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التعلّم هو تحديث متكرر لخانة واحدة في الجدول بخطوة صغيرة نحو الهدف</a:t>
            </a:r>
            <a:endParaRPr lang="en-US" sz="20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سياسة ε-greedy توازن بين الاستكشاف والاستغلال، ومعاملا α وγ يغيّران سرعة التعلّم وجودته</a:t>
            </a:r>
            <a:endParaRPr lang="en-US" sz="20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القيود: خريطة وعوائق ثابتة وأربع نقاط فقط وبلا فيزياء، فلا يُعدّ ذلك دليلًا على جاهزية قيادة حقيقية</a:t>
            </a:r>
            <a:endParaRPr lang="en-US" sz="2000" dirty="0"/>
          </a:p>
          <a:p>
            <a:pPr algn="r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عمل مستقبلي: عوائق متحركة وحالات أكبر وشبكة Deep Q-Network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Taxi">
  <a:themeElements>
    <a:clrScheme name="SmartTaxi">
      <a:dk1>
        <a:srgbClr val="1B2430"/>
      </a:dk1>
      <a:lt1>
        <a:srgbClr val="FFFFFF"/>
      </a:lt1>
      <a:dk2>
        <a:srgbClr val="0F2A3A"/>
      </a:dk2>
      <a:lt2>
        <a:srgbClr val="F1F3F6"/>
      </a:lt2>
      <a:accent1>
        <a:srgbClr val="1F6F8B"/>
      </a:accent1>
      <a:accent2>
        <a:srgbClr val="F2B705"/>
      </a:accent2>
      <a:accent3>
        <a:srgbClr val="E8743B"/>
      </a:accent3>
      <a:accent4>
        <a:srgbClr val="2EA05A"/>
      </a:accent4>
      <a:accent5>
        <a:srgbClr val="8A8F98"/>
      </a:accent5>
      <a:accent6>
        <a:srgbClr val="C9D3DD"/>
      </a:accent6>
      <a:hlink>
        <a:srgbClr val="1F6F8B"/>
      </a:hlink>
      <a:folHlink>
        <a:srgbClr val="8A8F98"/>
      </a:folHlink>
    </a:clrScheme>
    <a:fontScheme name="SmartTax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SmartTaxi RL</dc:title>
  <dc:subject>PptxGenJS Presentation</dc:subject>
  <dc:creator>PptxGenJS</dc:creator>
  <cp:lastModifiedBy>PptxGenJS</cp:lastModifiedBy>
  <cp:revision>1</cp:revision>
  <dcterms:created xsi:type="dcterms:W3CDTF">2026-10-10T16:45:02Z</dcterms:created>
  <dcterms:modified xsi:type="dcterms:W3CDTF">2026-10-10T16:45:02Z</dcterms:modified>
</cp:coreProperties>
</file>